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0"/>
          </a:xfrm>
          <a:prstGeom prst="roundRect">
            <a:avLst>
              <a:gd name="adj" fmla="val 5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ExamLab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7D2FE"/>
                </a:solidFill>
                <a:latin typeface="Calibri"/>
              </a:rPr>
              <a:t>La plataforma educativa con IA — planes para tu institución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B4B"/>
                </a:solidFill>
                <a:latin typeface="Calibri"/>
              </a:rPr>
              <a:t>Pequeña, Mediana o Grande: hay un plan a tu medida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IA incluida (con tu API key) · Seguro y privado · Setup en días, no meses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PROPUESTA COMERCIAL ·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POR QUÉ EXAMLAB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1B4B"/>
                </a:solidFill>
                <a:latin typeface="Calibri"/>
              </a:rPr>
              <a:t>Tus docentes pierden horas armando y calificando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39112"/>
            <a:ext cx="109728" cy="109728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Crear exámenes, talleres y proyectos consume tiempo cada semana.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2032"/>
            <a:ext cx="109728" cy="109728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Calificar entregas a mano es lento y poco trazable.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44952"/>
            <a:ext cx="109728" cy="109728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El material y el seguimiento quedan dispersos en 3-5 herramientas.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109728" cy="109728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ExamLab automatiza con IA: generar, calificar, tutorizar y detectar copia.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50791"/>
            <a:ext cx="109728" cy="109728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Resultado: tus docentes recuperan 8-12 horas por semana. Tu institución gana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11247120" cy="731520"/>
          </a:xfrm>
          <a:prstGeom prst="roundRect">
            <a:avLst>
              <a:gd name="adj" fmla="val 5000"/>
            </a:avLst>
          </a:prstGeom>
          <a:solidFill>
            <a:srgbClr val="E8F6F9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406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★  Una sola plataforma, en español, lista para tu institución — sin instalar nada.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ExamLab · Plataforma educativa con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LA PLATAFORMA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1B4B"/>
                </a:solidFill>
                <a:latin typeface="Calibri"/>
              </a:rPr>
              <a:t>Todo lo que tu institución necesita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Cursos, cronograma, contenidos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Estructura por semestre + tablero visual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202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9202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Exámenes, talleres, proyectos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2402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Con IA para generar y calificar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Certificados con 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Verificación pública + firma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743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Tutor IA por curso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0632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Lee el material del curso y responde al alumno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661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Anti-plagio con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862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Detección de copia entre entregas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661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5661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Libro de calificaciones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8862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Con pesos por corte + acta oficial exportable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3891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Reto en vivo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7091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Con PIN + QR, hasta 10k alumnos concurrentes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3891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3891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Asistencia con QR rotativo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7091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Auto check-in del estudiante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120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2120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Mensajería + foros + broadcast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5321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Con etiquetas #contenido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2120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🖥️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2120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Code runner Java/Python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55321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Ejecución server-side en exámenes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ExamLab · Plataforma educativa con 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PLANES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1B4B"/>
                </a:solidFill>
                <a:latin typeface="Calibri"/>
              </a:rPr>
              <a:t>Un precio para cada tamaño de institución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Mismas funciones en todos los planes — solo cambia el tope de matrículas.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31720"/>
            <a:ext cx="361188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E1B4B"/>
                </a:solidFill>
                <a:latin typeface="Calibri"/>
              </a:rPr>
              <a:t>Pequeña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Institución pequeña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4F46E5"/>
                </a:solidFill>
                <a:latin typeface="Calibri"/>
              </a:rPr>
              <a:t>$149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39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USD / mes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4572000"/>
            <a:ext cx="2880360" cy="0"/>
          </a:xfrm>
          <a:prstGeom prst="line">
            <a:avLst/>
          </a:prstGeom>
          <a:ln>
            <a:solidFill>
              <a:srgbClr val="E0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466344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Matrículas activas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1B4B"/>
                </a:solidFill>
                <a:latin typeface="Calibri"/>
              </a:rPr>
              <a:t>Hasta 1.000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Todas las funciones incluidas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Cursos y usuarios ilimitados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521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Soporte + backups incluidos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331720"/>
            <a:ext cx="3611880" cy="3794760"/>
          </a:xfrm>
          <a:prstGeom prst="roundRect">
            <a:avLst>
              <a:gd name="adj" fmla="val 5000"/>
            </a:avLst>
          </a:prstGeom>
          <a:solidFill>
            <a:srgbClr val="FFFBF0"/>
          </a:solidFill>
          <a:ln w="25400">
            <a:solidFill>
              <a:srgbClr val="E19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17820" y="2148840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E1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17820" y="216712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MÁS POPULAR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60604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E1B4B"/>
                </a:solidFill>
                <a:latin typeface="Calibri"/>
              </a:rPr>
              <a:t>Mediana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10896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Institución mediana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474720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4F46E5"/>
                </a:solidFill>
                <a:latin typeface="Calibri"/>
              </a:rPr>
              <a:t>$349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206239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USD / mes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63440" y="4572000"/>
            <a:ext cx="2880360" cy="0"/>
          </a:xfrm>
          <a:prstGeom prst="line">
            <a:avLst/>
          </a:prstGeom>
          <a:ln>
            <a:solidFill>
              <a:srgbClr val="E0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97680" y="466344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Matrículas activas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9377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1B4B"/>
                </a:solidFill>
                <a:latin typeface="Calibri"/>
              </a:rPr>
              <a:t>Hasta 3.000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3949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39496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Todas las funciones incluidas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6235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62356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Cursos y usuarios ilimitados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8521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85216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Soporte + backups incluidos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2331720"/>
            <a:ext cx="361188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260604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E1B4B"/>
                </a:solidFill>
                <a:latin typeface="Calibri"/>
              </a:rPr>
              <a:t>Grande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10896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Institución grande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3474720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4F46E5"/>
                </a:solidFill>
                <a:latin typeface="Calibri"/>
              </a:rPr>
              <a:t>$799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206239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USD / mes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03920" y="4572000"/>
            <a:ext cx="2880360" cy="0"/>
          </a:xfrm>
          <a:prstGeom prst="line">
            <a:avLst/>
          </a:prstGeom>
          <a:ln>
            <a:solidFill>
              <a:srgbClr val="E0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138160" y="466344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Matrículas activas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49377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1B4B"/>
                </a:solidFill>
                <a:latin typeface="Calibri"/>
              </a:rPr>
              <a:t>Hasta 10.000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3949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539496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Todas las funciones incluidas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6235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62356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Cursos y usuarios ilimitados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8521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585216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Soporte + backups incluidos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E1B4B"/>
                </a:solidFill>
                <a:latin typeface="Calibri"/>
              </a:rPr>
              <a:t>¿Más de 10.000 matrículas o requerimientos regulatorios? Plan Enterprise custom desde $1.499/mes · Contáctanos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ALMACENAMIENTO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1B4B"/>
                </a:solidFill>
                <a:latin typeface="Calibri"/>
              </a:rPr>
              <a:t>Cuánto espacio incluye cada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El material y las entregas se guardan en la plataforma. Los videos van por enlace externo (YouTube/Drive) — no ocupan tu espacio.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3611880" cy="2148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4748B"/>
                </a:solidFill>
                <a:latin typeface="Calibri"/>
              </a:rPr>
              <a:t>Pequeña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4F46E5"/>
                </a:solidFill>
                <a:latin typeface="Calibri"/>
              </a:rPr>
              <a:t>50 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~7× lo que usa una institución de 1.000 matrículas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40280"/>
            <a:ext cx="3611880" cy="2148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4748B"/>
                </a:solidFill>
                <a:latin typeface="Calibri"/>
              </a:rPr>
              <a:t>Mediana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8036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4F46E5"/>
                </a:solidFill>
                <a:latin typeface="Calibri"/>
              </a:rPr>
              <a:t>100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5760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~5× lo que usa una institución de 3.000 matrículas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240280"/>
            <a:ext cx="3611880" cy="2148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9050">
            <a:solidFill>
              <a:srgbClr val="1E1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4748B"/>
                </a:solidFill>
                <a:latin typeface="Calibri"/>
              </a:rPr>
              <a:t>Grande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88036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E1B4B"/>
                </a:solidFill>
                <a:latin typeface="Calibri"/>
              </a:rPr>
              <a:t>200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65760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~3× lo que usa una institución de 10.000 matrículas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00600"/>
            <a:ext cx="11247120" cy="1280160"/>
          </a:xfrm>
          <a:prstGeom prst="roundRect">
            <a:avLst>
              <a:gd name="adj" fmla="val 5000"/>
            </a:avLst>
          </a:prstGeom>
          <a:solidFill>
            <a:srgbClr val="E8F6F9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65192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¿Necesitas más espacio?  Storage adicional: $10 / 100 GB al 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6752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El espacio incluido cubre con holgura a más del 99% de las instituciones. Antes de ampliar, siempre conviene enlazar los videos y el material pesado por URL externa (gratis). El add-on de storage es solo para material propietario que no se pueda externalizar. Enterprise: almacenamiento a medida.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ExamLab · Plataforma educativa con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TODO INCLUIDO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1B4B"/>
                </a:solidFill>
                <a:latin typeface="Calibri"/>
              </a:rPr>
              <a:t>Todas las funciones, en todos los planes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Sin funciones bloqueadas: la única diferencia entre planes es el tope de matrículas.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Cursos, cronograma y tablero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10312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10312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Exámenes, talleres y proyectos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Generación de evaluaciones con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10312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10312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Generación de contenido (PPTX/guías) con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6039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39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Calificación automática con retroalimentación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06039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606039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Tutor IA del curso (lee el material)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06039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606039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Detección de copia / antifraude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06039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606039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Banco de preguntas reutilizable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0896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0896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Asistencia con QR rotativo (auto check-in)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10896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10896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Sincronización con Google/Microsoft Calendar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10896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10896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Mensajería 1-a-1, foros y difusión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10896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10896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Encuestas + Reto en vivo con PIN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6118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61188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Certificados con QR verificable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6118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361188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Ejecución de código (Java/Python) en línea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6118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61188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Multi-sede, branding y auditoría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6118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361188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Notificaciones in-app + push + email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1208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E8F6F9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3492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1B4B"/>
                </a:solidFill>
                <a:latin typeface="Calibri"/>
              </a:rPr>
              <a:t>★  BYO API Key (Bring Your Own Key)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6692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La institución conecta su propia clave de Gemini/OpenAI. Sin sobrecosto de IA en la suscripción.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ExamLab · Plataforma educativa con 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MODELO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1B4B"/>
                </a:solidFill>
                <a:latin typeface="Calibri"/>
              </a:rPr>
              <a:t>Tú decides cuánto se usa la IA — y cuánto pagas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Dos maneras de usar la IA, sin sorpresas de costo: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F0F9FB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1B4B"/>
                </a:solidFill>
                <a:latin typeface="Calibri"/>
              </a:rPr>
              <a:t>🔑  BYO API Key (recomendado)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Conectas tu propia clave de Gemini/OpenAI.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7472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Sobre-costo de IA en la suscripción: 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Pagas al proveedor directo (Google/OpenAI) según uso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0624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Costo típico ~$0.06/matrícula/mes con Gemini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5720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Cola sync/async para amortiguar picos de gasto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93776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Failover automático a claves de respaldo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19456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4231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1B4B"/>
                </a:solidFill>
                <a:latin typeface="Calibri"/>
              </a:rPr>
              <a:t>🤖  IA administrada (add-on)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971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ExamLab gestiona la clave. Facturación medida por matrícula.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474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347472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$0.10 por matrícula activa / 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3840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8404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Sin gestión de Google Cloud del lado del cliente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42062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420624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Tope de consumo configurable por institución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45720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45720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Facturación incluida en la factura de ExamLab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49377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93776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Ideal para instituciones sin equipo TI dedicado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Cola sync/async · Failover multi-key · Auditoría completa · Datos nunca dejan tu institución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ExamLab · Plataforma educativa con 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IA, SIN LETRA CHICA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1B4B"/>
                </a:solidFill>
                <a:latin typeface="Calibri"/>
              </a:rPr>
              <a:t>El costo de IA es bajo, transparente y bajo tu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Con el modelo BYO, tu suscripción ExamLab no incluye ningún recargo por IA: conectas tu propia clave de Gemini/OpenAI y pagas solo el uso real, directo al proveedor.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3749039" cy="2834640"/>
          </a:xfrm>
          <a:prstGeom prst="roundRect">
            <a:avLst>
              <a:gd name="adj" fmla="val 5000"/>
            </a:avLst>
          </a:prstGeom>
          <a:solidFill>
            <a:srgbClr val="F0F9FB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E1B4B"/>
                </a:solidFill>
                <a:latin typeface="Calibri"/>
              </a:rPr>
              <a:t>Recargo de IA en tu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3383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0" b="1" i="0">
                <a:solidFill>
                  <a:srgbClr val="4F46E5"/>
                </a:solidFill>
                <a:latin typeface="Calibri"/>
              </a:rP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Pagas la IA directo a Google/OpenAI, según tu consumo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7178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1B4B"/>
                </a:solidFill>
                <a:latin typeface="Calibri"/>
              </a:rPr>
              <a:t>Estimado de costo de IA al mes (modo BYO)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651760"/>
            <a:ext cx="7178040" cy="45720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65176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Matrículas activas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2651760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Uso típico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265176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Uso intensivo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163824"/>
            <a:ext cx="7178040" cy="4572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163824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3163824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~$12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3163824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~$40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675888"/>
            <a:ext cx="7178040" cy="4572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675888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1.000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3675888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~$60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3675888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~$200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187952"/>
            <a:ext cx="7178040" cy="4572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187952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3.000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4187952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~$180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41879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~$600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4700016"/>
            <a:ext cx="7178040" cy="4572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700016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10.000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4700016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~$600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4700016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~$2.000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257800"/>
            <a:ext cx="7178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Valores estimados en USD/mes, pagados directamente a tu proveedor de IA (Google/OpenAI) según tu consumo real — no son un cargo de ExamLab. ¿Prefieres no administrar la clave? Con el add-on de IA administrada, ExamLab se encarga de todo por $0.10 por matrícula/mes.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ExamLab · Plataforma educativa con 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COMPARATIVA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1B4B"/>
                </a:solidFill>
                <a:latin typeface="Calibri"/>
              </a:rPr>
              <a:t>Más barato que Moodle Cloud. Mucho más barato que Canvas.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Precio USD/matrícula/mes para una institución con 3.000 matrículas.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9456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USD/mes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19456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Por matrícula/mes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19456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Chamilo self-hosted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9748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~$350 (valorizado)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69748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$0.12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69748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Gratis + admin server + VPS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E8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ExamLab Mediana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0040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1B4B"/>
                </a:solidFill>
                <a:latin typeface="Calibri"/>
              </a:rPr>
              <a:t>$349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20040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1B4B"/>
                </a:solidFill>
                <a:latin typeface="Calibri"/>
              </a:rPr>
              <a:t>$0.12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20040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IA + Reto en vivo + antifraude incluidos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Moodle Cloud Standard (750)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70332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$173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70332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$0.23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70332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Sin IA nativa, plugin extra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0624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Canvas Small (negociado)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20624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$2.500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20624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$0.83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20624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Contract 3 años típico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09159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709159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Blackboard mid-market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709159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$5.000+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709159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$1.67+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709159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Setup + capacitación aparte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Fuentes: moodlecloud.com/standard-plans · vendr.com/marketplace/canvas · benchmarks públicos 2026-07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ExamLab · Plataforma educativa con 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CUÁNTO AHORRAS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1B4B"/>
                </a:solidFill>
                <a:latin typeface="Calibri"/>
              </a:rPr>
              <a:t>El costo real de NO tener ExamLab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2743200" cy="15544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4F46E5"/>
                </a:solidFill>
                <a:latin typeface="Calibri"/>
              </a:rPr>
              <a:t>$60k+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Canvas negociado / año
para 5.000 alumnos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920240"/>
            <a:ext cx="2743200" cy="15544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057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4F46E5"/>
                </a:solidFill>
                <a:latin typeface="Calibri"/>
              </a:rPr>
              <a:t>8-12h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7432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Que un docente ahorra
por semana con 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2743200" cy="15544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057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4F46E5"/>
                </a:solidFill>
                <a:latin typeface="Calibri"/>
              </a:rP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7432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Costo de IA en el plan
con BYO API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920240"/>
            <a:ext cx="2743200" cy="15544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057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4F46E5"/>
                </a:solidFill>
                <a:latin typeface="Calibri"/>
              </a:rPr>
              <a:t>1 día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7432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Setup completo con
asistencia guiada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11247120" cy="210312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Ejemplo: Universidad regional con 3.000 matrículas activas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Plan Mediana Auto (12 meses):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17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$349 × 12 = $4.188/año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Comparable Canvas negociado: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$24.000-$30.000/año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Ahorro anual con ExamLab: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~$20.000-$25.000 USD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77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Setup + migración: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5778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Incluidos (Admin) vs 3-6 meses Canvas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ExamLab · Plataforma educativa con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0"/>
          </a:xfrm>
          <a:prstGeom prst="roundRect">
            <a:avLst>
              <a:gd name="adj" fmla="val 5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Dale tiempo a tus docentes.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C7D2FE"/>
                </a:solidFill>
                <a:latin typeface="Calibri"/>
              </a:rPr>
              <a:t>Control a tu institución.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F2937"/>
                </a:solidFill>
                <a:latin typeface="Calibri"/>
              </a:rPr>
              <a:t>Empieza con el plan que se ajusta a tu tamaño y crece cuando lo necesites.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5661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7C3AED"/>
                </a:solidFill>
                <a:latin typeface="Calibri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566160"/>
            <a:ext cx="868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IA para generar, calificar, tutorizar y detectar copia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0690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7C3AED"/>
                </a:solidFill>
                <a:latin typeface="Calibri"/>
              </a:rPr>
              <a:t>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069080"/>
            <a:ext cx="868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Seguridad de nivel empresarial y datos privados por institución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5720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7C3AED"/>
                </a:solidFill>
                <a:latin typeface="Calibri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572000"/>
            <a:ext cx="868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Setup en días · Soporte en español · Sin contract mínimo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5486400"/>
            <a:ext cx="5760720" cy="73152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5623560"/>
            <a:ext cx="5760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Solicita una demo · demo@examlab.co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ExamLab · Plataforma educativa con IA · Julio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