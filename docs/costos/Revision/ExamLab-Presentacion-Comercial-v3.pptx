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0"/>
          </a:xfrm>
          <a:prstGeom prst="roundRect">
            <a:avLst>
              <a:gd name="adj" fmla="val 5000"/>
            </a:avLst>
          </a:prstGeom>
          <a:solidFill>
            <a:srgbClr val="0F3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ExamLab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C8E8EE"/>
                </a:solidFill>
                <a:latin typeface="Calibri"/>
              </a:rPr>
              <a:t>La plataforma educativa con IA — planes v3 para tu institución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F3E4C"/>
                </a:solidFill>
                <a:latin typeface="Calibri"/>
              </a:rPr>
              <a:t>Pequeña, Mediana o Grande: hay un plan a tu medida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647480"/>
                </a:solidFill>
                <a:latin typeface="Calibri"/>
              </a:rPr>
              <a:t>IA incluida (con tu API key) · Multi-tenant seguro · Setup en días, no meses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7A8C"/>
                </a:solidFill>
                <a:latin typeface="Calibri"/>
              </a:rPr>
              <a:t>PROPUESTA COMERCIAL · v3 · 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7A8C"/>
                </a:solidFill>
                <a:latin typeface="Calibri"/>
              </a:rPr>
              <a:t>POR QUÉ EXAMLAB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3E4C"/>
                </a:solidFill>
                <a:latin typeface="Calibri"/>
              </a:rPr>
              <a:t>Tus docentes pierden horas armando y calificando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39112"/>
            <a:ext cx="109728" cy="109728"/>
          </a:xfrm>
          <a:prstGeom prst="roundRect">
            <a:avLst>
              <a:gd name="adj" fmla="val 5000"/>
            </a:avLst>
          </a:prstGeom>
          <a:solidFill>
            <a:srgbClr val="2E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A33"/>
                </a:solidFill>
                <a:latin typeface="Calibri"/>
              </a:rPr>
              <a:t>Crear exámenes, talleres y proyectos consume tiempo cada semana.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42032"/>
            <a:ext cx="109728" cy="109728"/>
          </a:xfrm>
          <a:prstGeom prst="roundRect">
            <a:avLst>
              <a:gd name="adj" fmla="val 5000"/>
            </a:avLst>
          </a:prstGeom>
          <a:solidFill>
            <a:srgbClr val="2E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A33"/>
                </a:solidFill>
                <a:latin typeface="Calibri"/>
              </a:rPr>
              <a:t>Calificar entregas a mano es lento y poco trazable.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44952"/>
            <a:ext cx="109728" cy="109728"/>
          </a:xfrm>
          <a:prstGeom prst="roundRect">
            <a:avLst>
              <a:gd name="adj" fmla="val 5000"/>
            </a:avLst>
          </a:prstGeom>
          <a:solidFill>
            <a:srgbClr val="2E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A33"/>
                </a:solidFill>
                <a:latin typeface="Calibri"/>
              </a:rPr>
              <a:t>El material y el seguimiento quedan dispersos en 3-5 herramientas.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47872"/>
            <a:ext cx="109728" cy="109728"/>
          </a:xfrm>
          <a:prstGeom prst="roundRect">
            <a:avLst>
              <a:gd name="adj" fmla="val 5000"/>
            </a:avLst>
          </a:prstGeom>
          <a:solidFill>
            <a:srgbClr val="2E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3E4C"/>
                </a:solidFill>
                <a:latin typeface="Calibri"/>
              </a:rPr>
              <a:t>ExamLab automatiza con IA: generar, calificar, tutorizar y detectar copia.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50791"/>
            <a:ext cx="109728" cy="109728"/>
          </a:xfrm>
          <a:prstGeom prst="roundRect">
            <a:avLst>
              <a:gd name="adj" fmla="val 5000"/>
            </a:avLst>
          </a:prstGeom>
          <a:solidFill>
            <a:srgbClr val="2EB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3E4C"/>
                </a:solidFill>
                <a:latin typeface="Calibri"/>
              </a:rPr>
              <a:t>Resultado: tus docentes recuperan 8-12 horas por semana. Tu institución gana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03520"/>
            <a:ext cx="11247120" cy="731520"/>
          </a:xfrm>
          <a:prstGeom prst="roundRect">
            <a:avLst>
              <a:gd name="adj" fmla="val 5000"/>
            </a:avLst>
          </a:prstGeom>
          <a:solidFill>
            <a:srgbClr val="E8F6F9"/>
          </a:solidFill>
          <a:ln w="19050">
            <a:solidFill>
              <a:srgbClr val="2EB8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406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3E4C"/>
                </a:solidFill>
                <a:latin typeface="Calibri"/>
              </a:rPr>
              <a:t>★  Una sola plataforma, en español, lista para tu institución — sin instalar nada.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0"/>
                </a:solidFill>
                <a:latin typeface="Calibri"/>
              </a:rPr>
              <a:t>ExamLab · Plataforma educativa con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7A8C"/>
                </a:solidFill>
                <a:latin typeface="Calibri"/>
              </a:rPr>
              <a:t>LA PLATAFORMA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3E4C"/>
                </a:solidFill>
                <a:latin typeface="Calibri"/>
              </a:rPr>
              <a:t>Todo lo que tu institución necesita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1F2A33"/>
                </a:solidFill>
                <a:latin typeface="Calibri"/>
              </a:rPr>
              <a:t>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3E4C"/>
                </a:solidFill>
                <a:latin typeface="Calibri"/>
              </a:rPr>
              <a:t>Cursos, cronograma, contenidos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0"/>
                </a:solidFill>
                <a:latin typeface="Calibri"/>
              </a:rPr>
              <a:t>Estructura por semestre + tablero visual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202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1F2A33"/>
                </a:solidFill>
                <a:latin typeface="Calibri"/>
              </a:rPr>
              <a:t>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9202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3E4C"/>
                </a:solidFill>
                <a:latin typeface="Calibri"/>
              </a:rPr>
              <a:t>Exámenes, talleres, proyectos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2402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0"/>
                </a:solidFill>
                <a:latin typeface="Calibri"/>
              </a:rPr>
              <a:t>Con IA para generar y calificar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1F2A33"/>
                </a:solidFill>
                <a:latin typeface="Calibri"/>
              </a:rPr>
              <a:t>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3E4C"/>
                </a:solidFill>
                <a:latin typeface="Calibri"/>
              </a:rPr>
              <a:t>Certificados con QR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632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0"/>
                </a:solidFill>
                <a:latin typeface="Calibri"/>
              </a:rPr>
              <a:t>Verificación pública + firma digital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1F2A33"/>
                </a:solidFill>
                <a:latin typeface="Calibri"/>
              </a:rP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74320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3E4C"/>
                </a:solidFill>
                <a:latin typeface="Calibri"/>
              </a:rPr>
              <a:t>Tutor IA por curso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0632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0"/>
                </a:solidFill>
                <a:latin typeface="Calibri"/>
              </a:rPr>
              <a:t>Lee el material del curso y responde al alumno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1F2A33"/>
                </a:solidFill>
                <a:latin typeface="Calibri"/>
              </a:rPr>
              <a:t>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56616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3E4C"/>
                </a:solidFill>
                <a:latin typeface="Calibri"/>
              </a:rPr>
              <a:t>Anti-plagio con 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8862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0"/>
                </a:solidFill>
                <a:latin typeface="Calibri"/>
              </a:rPr>
              <a:t>Detección de copia entre entregas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5661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1F2A33"/>
                </a:solidFill>
                <a:latin typeface="Calibri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56616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3E4C"/>
                </a:solidFill>
                <a:latin typeface="Calibri"/>
              </a:rPr>
              <a:t>Libro de calificaciones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88620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0"/>
                </a:solidFill>
                <a:latin typeface="Calibri"/>
              </a:rPr>
              <a:t>Con pesos por corte + acta oficial exportable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891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1F2A33"/>
                </a:solidFill>
                <a:latin typeface="Calibri"/>
              </a:rPr>
              <a:t>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38912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3E4C"/>
                </a:solidFill>
                <a:latin typeface="Calibri"/>
              </a:rPr>
              <a:t>Kahoot en vivo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7091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0"/>
                </a:solidFill>
                <a:latin typeface="Calibri"/>
              </a:rPr>
              <a:t>Con PIN + QR, hasta 10k alumnos concurrentes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3891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1F2A33"/>
                </a:solidFill>
                <a:latin typeface="Calibri"/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38912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3E4C"/>
                </a:solidFill>
                <a:latin typeface="Calibri"/>
              </a:rPr>
              <a:t>Asistencia con QR rotativo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7091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0"/>
                </a:solidFill>
                <a:latin typeface="Calibri"/>
              </a:rPr>
              <a:t>Auto check-in del estudiante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2120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1F2A33"/>
                </a:solidFill>
                <a:latin typeface="Calibri"/>
              </a:rPr>
              <a:t>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21208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3E4C"/>
                </a:solidFill>
                <a:latin typeface="Calibri"/>
              </a:rPr>
              <a:t>Mensajería + foros + broadcast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5321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0"/>
                </a:solidFill>
                <a:latin typeface="Calibri"/>
              </a:rPr>
              <a:t>Con etiquetas #contenido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2120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1F2A33"/>
                </a:solidFill>
                <a:latin typeface="Calibri"/>
              </a:rPr>
              <a:t>🖥️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521208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3E4C"/>
                </a:solidFill>
                <a:latin typeface="Calibri"/>
              </a:rPr>
              <a:t>Code runner Java/Python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55321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0"/>
                </a:solidFill>
                <a:latin typeface="Calibri"/>
              </a:rPr>
              <a:t>Ejecución server-side en exámenes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0"/>
                </a:solidFill>
                <a:latin typeface="Calibri"/>
              </a:rPr>
              <a:t>ExamLab · Plataforma educativa con 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7A8C"/>
                </a:solidFill>
                <a:latin typeface="Calibri"/>
              </a:rPr>
              <a:t>PLANES V3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3E4C"/>
                </a:solidFill>
                <a:latin typeface="Calibri"/>
              </a:rPr>
              <a:t>Un precio para cada tamaño de institución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47480"/>
                </a:solidFill>
                <a:latin typeface="Calibri"/>
              </a:rPr>
              <a:t>Mismas funciones en todos los planes — solo cambia el tope de matrículas.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361188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F3E4C"/>
                </a:solidFill>
                <a:latin typeface="Calibri"/>
              </a:rPr>
              <a:t>Pequeña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0"/>
                </a:solidFill>
                <a:latin typeface="Calibri"/>
              </a:rPr>
              <a:t>Institución pequeña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3611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1E5BAF"/>
                </a:solidFill>
                <a:latin typeface="Calibri"/>
              </a:rPr>
              <a:t>$149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1772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0"/>
                </a:solidFill>
                <a:latin typeface="Calibri"/>
              </a:rPr>
              <a:t>USD / mes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4983480"/>
            <a:ext cx="2880360" cy="0"/>
          </a:xfrm>
          <a:prstGeom prst="line">
            <a:avLst/>
          </a:prstGeom>
          <a:ln>
            <a:solidFill>
              <a:srgbClr val="E0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512064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0"/>
                </a:solidFill>
                <a:latin typeface="Calibri"/>
              </a:rPr>
              <a:t>Matrículas activas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9496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F3E4C"/>
                </a:solidFill>
                <a:latin typeface="Calibri"/>
              </a:rPr>
              <a:t>Hasta 1.000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4360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A33"/>
                </a:solidFill>
                <a:latin typeface="Calibri"/>
              </a:rPr>
              <a:t>Todas las funciones incluidas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7220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172200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A33"/>
                </a:solidFill>
                <a:latin typeface="Calibri"/>
              </a:rPr>
              <a:t>Cursos y usuarios ilimitados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400800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A33"/>
                </a:solidFill>
                <a:latin typeface="Calibri"/>
              </a:rPr>
              <a:t>Soporte + backups incluidos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2468880"/>
            <a:ext cx="3611880" cy="4206240"/>
          </a:xfrm>
          <a:prstGeom prst="roundRect">
            <a:avLst>
              <a:gd name="adj" fmla="val 5000"/>
            </a:avLst>
          </a:prstGeom>
          <a:solidFill>
            <a:srgbClr val="FFFBF0"/>
          </a:solidFill>
          <a:ln w="25400">
            <a:solidFill>
              <a:srgbClr val="E19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17820" y="2286000"/>
            <a:ext cx="1371600" cy="320040"/>
          </a:xfrm>
          <a:prstGeom prst="roundRect">
            <a:avLst>
              <a:gd name="adj" fmla="val 5000"/>
            </a:avLst>
          </a:prstGeom>
          <a:solidFill>
            <a:srgbClr val="E19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17820" y="230428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MÁS POPULAR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788920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F3E4C"/>
                </a:solidFill>
                <a:latin typeface="Calibri"/>
              </a:rPr>
              <a:t>Mediana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291840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0"/>
                </a:solidFill>
                <a:latin typeface="Calibri"/>
              </a:rPr>
              <a:t>Institución mediana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840480"/>
            <a:ext cx="3611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1E5BAF"/>
                </a:solidFill>
                <a:latin typeface="Calibri"/>
              </a:rPr>
              <a:t>$349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61772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0"/>
                </a:solidFill>
                <a:latin typeface="Calibri"/>
              </a:rPr>
              <a:t>USD / mes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63440" y="4983480"/>
            <a:ext cx="2880360" cy="0"/>
          </a:xfrm>
          <a:prstGeom prst="line">
            <a:avLst/>
          </a:prstGeom>
          <a:ln>
            <a:solidFill>
              <a:srgbClr val="E0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297680" y="512064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0"/>
                </a:solidFill>
                <a:latin typeface="Calibri"/>
              </a:rPr>
              <a:t>Matrículas activas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39496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F3E4C"/>
                </a:solidFill>
                <a:latin typeface="Calibri"/>
              </a:rPr>
              <a:t>Hasta 3.000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94360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5943600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A33"/>
                </a:solidFill>
                <a:latin typeface="Calibri"/>
              </a:rPr>
              <a:t>Todas las funciones incluidas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17220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6172200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A33"/>
                </a:solidFill>
                <a:latin typeface="Calibri"/>
              </a:rPr>
              <a:t>Cursos y usuarios ilimitados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0080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6400800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A33"/>
                </a:solidFill>
                <a:latin typeface="Calibri"/>
              </a:rPr>
              <a:t>Soporte + backups incluidos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2468880"/>
            <a:ext cx="361188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2788920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F3E4C"/>
                </a:solidFill>
                <a:latin typeface="Calibri"/>
              </a:rPr>
              <a:t>Grande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291840"/>
            <a:ext cx="3611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0"/>
                </a:solidFill>
                <a:latin typeface="Calibri"/>
              </a:rPr>
              <a:t>Institución grande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3840480"/>
            <a:ext cx="3611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1E5BAF"/>
                </a:solidFill>
                <a:latin typeface="Calibri"/>
              </a:rPr>
              <a:t>$799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461772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0"/>
                </a:solidFill>
                <a:latin typeface="Calibri"/>
              </a:rPr>
              <a:t>USD / mes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503920" y="4983480"/>
            <a:ext cx="2880360" cy="0"/>
          </a:xfrm>
          <a:prstGeom prst="line">
            <a:avLst/>
          </a:prstGeom>
          <a:ln>
            <a:solidFill>
              <a:srgbClr val="E0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138160" y="512064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0"/>
                </a:solidFill>
                <a:latin typeface="Calibri"/>
              </a:rPr>
              <a:t>Matrículas activas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539496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F3E4C"/>
                </a:solidFill>
                <a:latin typeface="Calibri"/>
              </a:rPr>
              <a:t>Hasta 10.000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94360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5943600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A33"/>
                </a:solidFill>
                <a:latin typeface="Calibri"/>
              </a:rPr>
              <a:t>Todas las funciones incluidas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617220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6172200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A33"/>
                </a:solidFill>
                <a:latin typeface="Calibri"/>
              </a:rPr>
              <a:t>Cursos y usuarios ilimitados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640080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6400800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A33"/>
                </a:solidFill>
                <a:latin typeface="Calibri"/>
              </a:rPr>
              <a:t>Soporte + backups incluidos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6720840"/>
            <a:ext cx="0" cy="45720"/>
          </a:xfrm>
          <a:prstGeom prst="roundRect">
            <a:avLst>
              <a:gd name="adj" fmla="val 5000"/>
            </a:avLst>
          </a:prstGeom>
          <a:solidFill>
            <a:srgbClr val="14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0F3E4C"/>
                </a:solidFill>
                <a:latin typeface="Calibri"/>
              </a:rPr>
              <a:t>¿Más de 10.000 matrículas o requerimientos regulatorios? Plan Enterprise custom desde $1.499/mes · Contáctanos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7A8C"/>
                </a:solidFill>
                <a:latin typeface="Calibri"/>
              </a:rPr>
              <a:t>TODO INCLUIDO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3E4C"/>
                </a:solidFill>
                <a:latin typeface="Calibri"/>
              </a:rPr>
              <a:t>Todas las funciones, en todos los planes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47480"/>
                </a:solidFill>
                <a:latin typeface="Calibri"/>
              </a:rPr>
              <a:t>Sin funciones bloqueadas: la única diferencia entre planes es el tope de matrículas.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Cursos, cronograma y tablero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10312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10312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Exámenes, talleres y proyectos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Generación de evaluaciones con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10312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210312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Generación de contenido (PPTX/guías) con 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06039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06039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Calificación automática con retroalimentación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06039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606039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Tutor IA del curso (lee el material)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06039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606039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Detección de copia / antifraude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606039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2606039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Banco de preguntas reutilizable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10896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10896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Asistencia con QR rotativo (auto check-in)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10896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310896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Sincronización con Google/Microsoft Calendar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10896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10896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Mensajería 1-a-1, foros y difusión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10896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310896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Encuestas + Kahoot en vivo con PIN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61188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61188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Certificados con QR verificable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361188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361188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Ejecución de código (Java/Python) en línea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61188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361188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Multi-sede, branding y auditoría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61188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3611880"/>
            <a:ext cx="2468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Notificaciones in-app + push + email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21208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E8F6F9"/>
          </a:solidFill>
          <a:ln w="19050">
            <a:solidFill>
              <a:srgbClr val="2EB8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3492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3E4C"/>
                </a:solidFill>
                <a:latin typeface="Calibri"/>
              </a:rPr>
              <a:t>★  BYO API Key (Bring Your Own Key)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6692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La institución conecta su propia clave de Gemini/OpenAI. Sin sobrecosto de IA en la suscripción.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0"/>
                </a:solidFill>
                <a:latin typeface="Calibri"/>
              </a:rPr>
              <a:t>ExamLab · Plataforma educativa con 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7A8C"/>
                </a:solidFill>
                <a:latin typeface="Calibri"/>
              </a:rPr>
              <a:t>MODELO DE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3E4C"/>
                </a:solidFill>
                <a:latin typeface="Calibri"/>
              </a:rPr>
              <a:t>Tú decides cuánto se usa la IA — y cuánto pagas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3E4C"/>
                </a:solidFill>
                <a:latin typeface="Calibri"/>
              </a:rPr>
              <a:t>Dos maneras de usar la IA, sin sorpresas de costo: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5486400" cy="3200400"/>
          </a:xfrm>
          <a:prstGeom prst="roundRect">
            <a:avLst>
              <a:gd name="adj" fmla="val 5000"/>
            </a:avLst>
          </a:prstGeom>
          <a:solidFill>
            <a:srgbClr val="F0F9FB"/>
          </a:solidFill>
          <a:ln w="25400">
            <a:solidFill>
              <a:srgbClr val="14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3E4C"/>
                </a:solidFill>
                <a:latin typeface="Calibri"/>
              </a:rPr>
              <a:t>🔑  BYO API Key (recomendado)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A33"/>
                </a:solidFill>
                <a:latin typeface="Calibri"/>
              </a:rPr>
              <a:t>Conectas tu propia clave de Gemini/OpenAI.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7472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Sobre-costo de IA en la suscripción: 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404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Pagas al proveedor directo (Google/OpenAI) según uso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20624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Costo típico ~$0.06/matrícula/mes con Gemini 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720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5720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Cola sync/async para amortiguar picos de gasto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377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93776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Failover automático a claves de respaldo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2194560"/>
            <a:ext cx="54864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24231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F3E4C"/>
                </a:solidFill>
                <a:latin typeface="Calibri"/>
              </a:rPr>
              <a:t>🤖  IA administrada (add-on)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9718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A33"/>
                </a:solidFill>
                <a:latin typeface="Calibri"/>
              </a:rPr>
              <a:t>ExamLab gestiona la clave. Facturación medida por matrícula.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347472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347472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$0.10 por matrícula activa / 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38404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384048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Sin gestión de Google Cloud del lado del cliente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420624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420624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Tope de consumo configurable por tenant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45720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457200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Facturación incluida en la factura de ExamLab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493776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8F4F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4937760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A33"/>
                </a:solidFill>
                <a:latin typeface="Calibri"/>
              </a:rPr>
              <a:t>Ideal para instituciones sin equipo TI dedicado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235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47480"/>
                </a:solidFill>
                <a:latin typeface="Calibri"/>
              </a:rPr>
              <a:t>Cola sync/async · Failover multi-key · Auditoría completa · Datos nunca dejan tu institución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0"/>
                </a:solidFill>
                <a:latin typeface="Calibri"/>
              </a:rPr>
              <a:t>ExamLab · Plataforma educativa con 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7A8C"/>
                </a:solidFill>
                <a:latin typeface="Calibri"/>
              </a:rPr>
              <a:t>COMPARATIVA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3E4C"/>
                </a:solidFill>
                <a:latin typeface="Calibri"/>
              </a:rPr>
              <a:t>Más barato que Moodle Cloud. Mucho más barato que Canvas.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47480"/>
                </a:solidFill>
                <a:latin typeface="Calibri"/>
              </a:rPr>
              <a:t>Precio USD/matrícula/mes para una institución con 3.000 matrículas.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11247120" cy="502920"/>
          </a:xfrm>
          <a:prstGeom prst="roundRect">
            <a:avLst>
              <a:gd name="adj" fmla="val 5000"/>
            </a:avLst>
          </a:prstGeom>
          <a:solidFill>
            <a:srgbClr val="0F3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Producto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19456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USD/mes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19456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Por matrícula/mes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19456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97480"/>
            <a:ext cx="112471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33"/>
                </a:solidFill>
                <a:latin typeface="Calibri"/>
              </a:rPr>
              <a:t>Chamilo self-hosted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9748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F2A33"/>
                </a:solidFill>
                <a:latin typeface="Calibri"/>
              </a:rPr>
              <a:t>~$350 (valorizado)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69748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F2A33"/>
                </a:solidFill>
                <a:latin typeface="Calibri"/>
              </a:rPr>
              <a:t>$0.12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69748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33"/>
                </a:solidFill>
                <a:latin typeface="Calibri"/>
              </a:rPr>
              <a:t>Gratis + admin server + VPS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00400"/>
            <a:ext cx="11247120" cy="502920"/>
          </a:xfrm>
          <a:prstGeom prst="roundRect">
            <a:avLst>
              <a:gd name="adj" fmla="val 5000"/>
            </a:avLst>
          </a:prstGeom>
          <a:solidFill>
            <a:srgbClr val="E8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3E4C"/>
                </a:solidFill>
                <a:latin typeface="Calibri"/>
              </a:rPr>
              <a:t>ExamLab Mediana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20040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3E4C"/>
                </a:solidFill>
                <a:latin typeface="Calibri"/>
              </a:rPr>
              <a:t>$349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20040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F3E4C"/>
                </a:solidFill>
                <a:latin typeface="Calibri"/>
              </a:rPr>
              <a:t>$0.12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20040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3E4C"/>
                </a:solidFill>
                <a:latin typeface="Calibri"/>
              </a:rPr>
              <a:t>IA + Kahoot + antifraude incluidos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03320"/>
            <a:ext cx="112471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33"/>
                </a:solidFill>
                <a:latin typeface="Calibri"/>
              </a:rPr>
              <a:t>Moodle Cloud Standard (750)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70332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F2A33"/>
                </a:solidFill>
                <a:latin typeface="Calibri"/>
              </a:rPr>
              <a:t>$173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70332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F2A33"/>
                </a:solidFill>
                <a:latin typeface="Calibri"/>
              </a:rPr>
              <a:t>$0.23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70332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33"/>
                </a:solidFill>
                <a:latin typeface="Calibri"/>
              </a:rPr>
              <a:t>Sin IA nativa, plugin extra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06240"/>
            <a:ext cx="11247120" cy="502920"/>
          </a:xfrm>
          <a:prstGeom prst="roundRect">
            <a:avLst>
              <a:gd name="adj" fmla="val 5000"/>
            </a:avLst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06240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33"/>
                </a:solidFill>
                <a:latin typeface="Calibri"/>
              </a:rPr>
              <a:t>Canvas Small (negociado)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20624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F2A33"/>
                </a:solidFill>
                <a:latin typeface="Calibri"/>
              </a:rPr>
              <a:t>$2.500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20624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F2A33"/>
                </a:solidFill>
                <a:latin typeface="Calibri"/>
              </a:rPr>
              <a:t>$0.83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20624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33"/>
                </a:solidFill>
                <a:latin typeface="Calibri"/>
              </a:rPr>
              <a:t>Contract 3 años típico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709159"/>
            <a:ext cx="112471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709159"/>
            <a:ext cx="4114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33"/>
                </a:solidFill>
                <a:latin typeface="Calibri"/>
              </a:rPr>
              <a:t>Blackboard mid-market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709159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F2A33"/>
                </a:solidFill>
                <a:latin typeface="Calibri"/>
              </a:rPr>
              <a:t>$5.000+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709159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F2A33"/>
                </a:solidFill>
                <a:latin typeface="Calibri"/>
              </a:rPr>
              <a:t>$1.67+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4709159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33"/>
                </a:solidFill>
                <a:latin typeface="Calibri"/>
              </a:rPr>
              <a:t>Setup + capacitación aparte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47480"/>
                </a:solidFill>
                <a:latin typeface="Calibri"/>
              </a:rPr>
              <a:t>Fuentes: moodlecloud.com/standard-plans · vendr.com/marketplace/canvas · benchmarks públicos 2026-07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0"/>
                </a:solidFill>
                <a:latin typeface="Calibri"/>
              </a:rPr>
              <a:t>ExamLab · Plataforma educativa con 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47A8C"/>
                </a:solidFill>
                <a:latin typeface="Calibri"/>
              </a:rPr>
              <a:t>CUÁNTO AHORRAS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3E4C"/>
                </a:solidFill>
                <a:latin typeface="Calibri"/>
              </a:rPr>
              <a:t>El costo real de NO tener ExamLab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2743200" cy="1554480"/>
          </a:xfrm>
          <a:prstGeom prst="roundRect">
            <a:avLst>
              <a:gd name="adj" fmla="val 5000"/>
            </a:avLst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1E5BAF"/>
                </a:solidFill>
                <a:latin typeface="Calibri"/>
              </a:rPr>
              <a:t>$60k+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2A33"/>
                </a:solidFill>
                <a:latin typeface="Calibri"/>
              </a:rPr>
              <a:t>Canvas negociado / año
para 5.000 alumnos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920240"/>
            <a:ext cx="2743200" cy="1554480"/>
          </a:xfrm>
          <a:prstGeom prst="roundRect">
            <a:avLst>
              <a:gd name="adj" fmla="val 5000"/>
            </a:avLst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20574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1E5BAF"/>
                </a:solidFill>
                <a:latin typeface="Calibri"/>
              </a:rPr>
              <a:t>8-12h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7432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2A33"/>
                </a:solidFill>
                <a:latin typeface="Calibri"/>
              </a:rPr>
              <a:t>Que un docente ahorra
por semana con 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920240"/>
            <a:ext cx="2743200" cy="1554480"/>
          </a:xfrm>
          <a:prstGeom prst="roundRect">
            <a:avLst>
              <a:gd name="adj" fmla="val 5000"/>
            </a:avLst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0574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1E5BAF"/>
                </a:solidFill>
                <a:latin typeface="Calibri"/>
              </a:rP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7432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2A33"/>
                </a:solidFill>
                <a:latin typeface="Calibri"/>
              </a:rPr>
              <a:t>Costo de IA en el plan
con BYO API key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920240"/>
            <a:ext cx="2743200" cy="1554480"/>
          </a:xfrm>
          <a:prstGeom prst="roundRect">
            <a:avLst>
              <a:gd name="adj" fmla="val 5000"/>
            </a:avLst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20574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1E5BAF"/>
                </a:solidFill>
                <a:latin typeface="Calibri"/>
              </a:rPr>
              <a:t>1 día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7432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2A33"/>
                </a:solidFill>
                <a:latin typeface="Calibri"/>
              </a:rPr>
              <a:t>Setup completo con
asistencia guiada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11247120" cy="210312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9050">
            <a:solidFill>
              <a:srgbClr val="2EB8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3E4C"/>
                </a:solidFill>
                <a:latin typeface="Calibri"/>
              </a:rPr>
              <a:t>Ejemplo: Universidad regional con 3.000 matrículas activas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177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33"/>
                </a:solidFill>
                <a:latin typeface="Calibri"/>
              </a:rPr>
              <a:t>Plan Mediana Auto (12 meses):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177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3E4C"/>
                </a:solidFill>
                <a:latin typeface="Calibri"/>
              </a:rPr>
              <a:t>$349 × 12 = $4.188/año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37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33"/>
                </a:solidFill>
                <a:latin typeface="Calibri"/>
              </a:rPr>
              <a:t>Comparable Canvas negociado: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9377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3E4C"/>
                </a:solidFill>
                <a:latin typeface="Calibri"/>
              </a:rPr>
              <a:t>$24.000-$30.000/año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57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33"/>
                </a:solidFill>
                <a:latin typeface="Calibri"/>
              </a:rPr>
              <a:t>Ahorro anual con ExamLab: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2578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3E4C"/>
                </a:solidFill>
                <a:latin typeface="Calibri"/>
              </a:rPr>
              <a:t>~$20.000-$25.000 USD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5778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A33"/>
                </a:solidFill>
                <a:latin typeface="Calibri"/>
              </a:rPr>
              <a:t>Setup + migración: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5778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F3E4C"/>
                </a:solidFill>
                <a:latin typeface="Calibri"/>
              </a:rPr>
              <a:t>Incluidos (Admin) vs 3-6 meses Canvas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47480"/>
                </a:solidFill>
                <a:latin typeface="Calibri"/>
              </a:rPr>
              <a:t>ExamLab · Plataforma educativa con 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474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0"/>
          </a:xfrm>
          <a:prstGeom prst="roundRect">
            <a:avLst>
              <a:gd name="adj" fmla="val 5000"/>
            </a:avLst>
          </a:prstGeom>
          <a:solidFill>
            <a:srgbClr val="0F3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Dale tiempo a tus docentes.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C8E8EE"/>
                </a:solidFill>
                <a:latin typeface="Calibri"/>
              </a:rPr>
              <a:t>Control a tu institución.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1F2A33"/>
                </a:solidFill>
                <a:latin typeface="Calibri"/>
              </a:rPr>
              <a:t>Empieza con el plan que se ajusta a tu tamaño y crece cuando lo necesites.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56616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2EB8C7"/>
                </a:solidFill>
                <a:latin typeface="Calibri"/>
              </a:rPr>
              <a:t>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566160"/>
            <a:ext cx="8686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A33"/>
                </a:solidFill>
                <a:latin typeface="Calibri"/>
              </a:rPr>
              <a:t>IA para generar, calificar, tutorizar y detectar copia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06908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2EB8C7"/>
                </a:solidFill>
                <a:latin typeface="Calibri"/>
              </a:rPr>
              <a:t>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069080"/>
            <a:ext cx="8686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A33"/>
                </a:solidFill>
                <a:latin typeface="Calibri"/>
              </a:rPr>
              <a:t>Multi-tenant seguro con aislamiento por RLS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57200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2EB8C7"/>
                </a:solidFill>
                <a:latin typeface="Calibri"/>
              </a:rPr>
              <a:t>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572000"/>
            <a:ext cx="8686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A33"/>
                </a:solidFill>
                <a:latin typeface="Calibri"/>
              </a:rPr>
              <a:t>Setup en días · Soporte en español · Sin contract mínimo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5486400"/>
            <a:ext cx="5760720" cy="731520"/>
          </a:xfrm>
          <a:prstGeom prst="roundRect">
            <a:avLst>
              <a:gd name="adj" fmla="val 5000"/>
            </a:avLst>
          </a:prstGeom>
          <a:solidFill>
            <a:srgbClr val="14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5623560"/>
            <a:ext cx="5760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Solicita una demo · demo@examlab.co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47480"/>
                </a:solidFill>
                <a:latin typeface="Calibri"/>
              </a:rPr>
              <a:t>ExamLab · Plataforma educativa con IA · Julio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